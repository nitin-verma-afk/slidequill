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2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3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ARR ($M)</c:v>
                </c:pt>
              </c:strCache>
            </c:strRef>
          </c:tx>
          <c:spPr>
            <a:solidFill>
              <a:srgbClr val="2563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2563eb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3b82f6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0b981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f59e0b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Q1 2026</c:v>
                  </c:pt>
                  <c:pt idx="1">
                    <c:v>Q2 2026</c:v>
                  </c:pt>
                  <c:pt idx="2">
                    <c:v>Q3 2026</c:v>
                  </c:pt>
                  <c:pt idx="3">
                    <c:v>Q4 2026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1.2</c:v>
                </c:pt>
                <c:pt idx="1">
                  <c:v>1.8</c:v>
                </c:pt>
                <c:pt idx="2">
                  <c:v>2.6</c:v>
                </c:pt>
                <c:pt idx="3">
                  <c:v>3.5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4748B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f8fafc"/>
              </a:solidFill>
              <a:prstDash val="dash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4748B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NRR (%)</c:v>
                </c:pt>
              </c:strCache>
            </c:strRef>
          </c:tx>
          <c:spPr>
            <a:solidFill>
              <a:srgbClr val="2563EB"/>
            </a:solidFill>
            <a:ln w="25400" cap="flat">
              <a:solidFill>
                <a:srgbClr val="2563EB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2563EB"/>
              </a:solidFill>
              <a:ln w="9525" cap="flat">
                <a:solidFill>
                  <a:srgbClr val="2563E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Jan</c:v>
                  </c:pt>
                  <c:pt idx="1">
                    <c:v>Mar</c:v>
                  </c:pt>
                  <c:pt idx="2">
                    <c:v>Jun</c:v>
                  </c:pt>
                  <c:pt idx="3">
                    <c:v>Sep</c:v>
                  </c:pt>
                  <c:pt idx="4">
                    <c:v>Dec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104</c:v>
                </c:pt>
                <c:pt idx="1">
                  <c:v>108</c:v>
                </c:pt>
                <c:pt idx="2">
                  <c:v>114</c:v>
                </c:pt>
                <c:pt idx="3">
                  <c:v>121</c:v>
                </c:pt>
                <c:pt idx="4">
                  <c:v>128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4748B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f8fafc"/>
              </a:solidFill>
              <a:prstDash val="dash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4748B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Revenue Share (%)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2563EB"/>
              </a:solidFill>
              <a:effectLst/>
            </c:spPr>
          </c:dPt>
          <c:dPt>
            <c:idx val="1"/>
            <c:bubble3D val="0"/>
            <c:spPr>
              <a:solidFill>
                <a:srgbClr val="3B82F6"/>
              </a:solidFill>
              <a:effectLst/>
            </c:spPr>
          </c:dPt>
          <c:dPt>
            <c:idx val="2"/>
            <c:bubble3D val="0"/>
            <c:spPr>
              <a:solidFill>
                <a:srgbClr val="10B981"/>
              </a:solidFill>
              <a:effectLst/>
            </c:spPr>
          </c:dPt>
          <c:dPt>
            <c:idx val="3"/>
            <c:bubble3D val="0"/>
            <c:spPr>
              <a:solidFill>
                <a:srgbClr val="F59E0B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Sheet1!$A$2:$A$5</c:f>
              <c:strCache>
                <c:ptCount val="4"/>
                <c:pt idx="0">
                  <c:v>Enterprise API</c:v>
                </c:pt>
                <c:pt idx="1">
                  <c:v>Cloud Workspace</c:v>
                </c:pt>
                <c:pt idx="2">
                  <c:v>Pro Subscriptions</c:v>
                </c:pt>
                <c:pt idx="3">
                  <c:v>Integrations</c:v>
                </c:pt>
              </c:strCache>
            </c:strRef>
          </c:cat>
          <c:val>
            <c:numRef>
              <c:f>Sheet1!$B$2:$B$5</c:f>
              <c:numCache>
                <c:ptCount val="4"/>
                <c:pt idx="0">
                  <c:v>45</c:v>
                </c:pt>
                <c:pt idx="1">
                  <c:v>30</c:v>
                </c:pt>
                <c:pt idx="2">
                  <c:v>18</c:v>
                </c:pt>
                <c:pt idx="3">
                  <c:v>7</c:v>
                </c:pt>
              </c:numCache>
            </c:numRef>
          </c:val>
        </c:ser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64748B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Quarterly metric review with native editable charts.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Bar chart demonstrating Q-o-Q ARR expansion.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Line chart tracking NRR trend over six quarters.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Pie chart displaying revenue share distribution.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STER_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219200" y="2400300"/>
            <a:ext cx="9753600" cy="1371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Financial Analytics &amp; Operational KPIs</a:t>
            </a:r>
            <a:endParaRPr lang="en-US" sz="4400" dirty="0"/>
          </a:p>
        </p:txBody>
      </p:sp>
      <p:sp>
        <p:nvSpPr>
          <p:cNvPr id="4" name="Text 1"/>
          <p:cNvSpPr/>
          <p:nvPr/>
        </p:nvSpPr>
        <p:spPr>
          <a:xfrm>
            <a:off x="1219200" y="3771900"/>
            <a:ext cx="9753600" cy="6858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Q4 2026 Executive Summary</a:t>
            </a:r>
            <a:endParaRPr lang="en-US" sz="2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609600" y="342900"/>
            <a:ext cx="10972800" cy="10287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 Growth from Q1 to Q4</a:t>
            </a:r>
            <a:endParaRPr lang="en-US" sz="32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914400" y="914400"/>
          <a:ext cx="10972800" cy="4389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1"/>
          <p:cNvSpPr/>
          <p:nvPr/>
        </p:nvSpPr>
        <p:spPr>
          <a:xfrm>
            <a:off x="609600" y="589788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 accelerated consistently across four consecutive fiscal quarters.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609600" y="342900"/>
            <a:ext cx="10972800" cy="10287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Customer Retention &amp; Net Dollar Expansion</a:t>
            </a:r>
            <a:endParaRPr lang="en-US" sz="32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914400" y="914400"/>
          <a:ext cx="10972800" cy="4389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1"/>
          <p:cNvSpPr/>
          <p:nvPr/>
        </p:nvSpPr>
        <p:spPr>
          <a:xfrm>
            <a:off x="609600" y="589788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Revenue Retention steadily increased to 128%.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609600" y="342900"/>
            <a:ext cx="10972800" cy="10287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Platform Revenue Breakdown by Product</a:t>
            </a:r>
            <a:endParaRPr lang="en-US" sz="32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914400" y="914400"/>
          <a:ext cx="10972800" cy="4389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1"/>
          <p:cNvSpPr/>
          <p:nvPr/>
        </p:nvSpPr>
        <p:spPr>
          <a:xfrm>
            <a:off x="609600" y="589788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 contracts now account for nearly half of revenue.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2026-10-18T15:39:15Z</dcterms:created>
  <dcterms:modified xsi:type="dcterms:W3CDTF">2026-10-18T15:39:15Z</dcterms:modified>
</cp:coreProperties>
</file>