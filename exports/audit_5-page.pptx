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operational priorities that are expected to drive positive growth in the upcoming quarters. Emphasizing the importance of adopting new technologies and maintaining operational efficiency is crucial.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operational priorities that are aimed at achieving positive growth. Emphasizing these strategic pillars will help align our team's efforts moving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core focus on operational priorities that drive growth. Emphasizing the importance of strategic initiatives can help align the team towards common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operational priorities and growth targets for Strategic Pillar 4. Emphasizing operational efficiency will be crucial for continued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slide emphasizes our strategic priorities and commitment to growth. Let's carry forward the momentum into the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Text 0"/>
          <p:cNvSpPr/>
          <p:nvPr/>
        </p:nvSpPr>
        <p:spPr>
          <a:xfrm>
            <a:off x="6096000" y="6446520"/>
            <a:ext cx="5608320" cy="274320"/>
          </a:xfrm>
          <a:prstGeom prst="rect">
            <a:avLst/>
          </a:prstGeom>
          <a:noFill/>
          <a:ln/>
        </p:spPr>
        <p:txBody>
          <a:bodyPr wrap="square" rtlCol="0" anchor="t"/>
          <a:lstStyle/>
          <a:p>
            <a:pPr algn="r" indent="0" marL="0">
              <a:buNone/>
            </a:pPr>
            <a:r>
              <a:rPr lang="en-US" sz="900" dirty="0">
                <a:solidFill>
                  <a:srgbClr val="CBD5E1"/>
                </a:solidFill>
              </a:rPr>
              <a:t>Photo: Imagine Buddy</a:t>
            </a:r>
            <a:endParaRPr lang="en-US" sz="900" dirty="0"/>
          </a:p>
        </p:txBody>
      </p:sp>
      <p:sp>
        <p:nvSpPr>
          <p:cNvPr id="5" name="Shape 1"/>
          <p:cNvSpPr/>
          <p:nvPr/>
        </p:nvSpPr>
        <p:spPr>
          <a:xfrm>
            <a:off x="0" y="0"/>
            <a:ext cx="12192000" cy="6858000"/>
          </a:xfrm>
          <a:prstGeom prst="rect">
            <a:avLst/>
          </a:prstGeom>
          <a:solidFill>
            <a:srgbClr val="000000">
              <a:alpha val="60000"/>
            </a:srgbClr>
          </a:solidFill>
          <a:ln/>
        </p:spPr>
      </p:sp>
      <p:sp>
        <p:nvSpPr>
          <p:cNvPr id="6" name="Text 2"/>
          <p:cNvSpPr/>
          <p:nvPr/>
        </p:nvSpPr>
        <p:spPr>
          <a:xfrm>
            <a:off x="975360" y="2400300"/>
            <a:ext cx="10241280" cy="1371600"/>
          </a:xfrm>
          <a:prstGeom prst="rect">
            <a:avLst/>
          </a:prstGeom>
          <a:noFill/>
          <a:ln/>
        </p:spPr>
        <p:txBody>
          <a:bodyPr wrap="square" rtlCol="0" anchor="ctr">
            <a:normAutofit/>
          </a:bodyPr>
          <a:lstStyle/>
          <a:p>
            <a:pPr algn="l" indent="0" marL="0">
              <a:buNone/>
            </a:pPr>
            <a:r>
              <a:rPr lang="en-US" sz="4400" b="1" dirty="0">
                <a:solidFill>
                  <a:srgbClr val="FFFFFF"/>
                </a:solidFill>
                <a:latin typeface="Arial" pitchFamily="34" charset="0"/>
                <a:ea typeface="Arial" pitchFamily="34" charset="-122"/>
                <a:cs typeface="Arial" pitchFamily="34" charset="-120"/>
              </a:rPr>
              <a:t>Operational Priorities Drive Growth</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09600" y="342900"/>
            <a:ext cx="10972800" cy="1028700"/>
          </a:xfrm>
          <a:prstGeom prst="rect">
            <a:avLst/>
          </a:prstGeom>
          <a:noFill/>
          <a:ln/>
        </p:spPr>
        <p:txBody>
          <a:bodyPr wrap="square" rtlCol="0" anchor="t">
            <a:normAutofit/>
          </a:bodyPr>
          <a:lstStyle/>
          <a:p>
            <a:pPr indent="0" marL="0">
              <a:buNone/>
            </a:pPr>
            <a:r>
              <a:rPr lang="en-US" sz="3200" b="1" dirty="0">
                <a:solidFill>
                  <a:srgbClr val="0F172A"/>
                </a:solidFill>
                <a:latin typeface="Arial" pitchFamily="34" charset="0"/>
                <a:ea typeface="Arial" pitchFamily="34" charset="-122"/>
                <a:cs typeface="Arial" pitchFamily="34" charset="-120"/>
              </a:rPr>
              <a:t>Strong Operational Focus Drives Growth</a:t>
            </a:r>
            <a:endParaRPr lang="en-US" sz="3200" dirty="0"/>
          </a:p>
        </p:txBody>
      </p:sp>
      <p:sp>
        <p:nvSpPr>
          <p:cNvPr id="4" name="Text 1"/>
          <p:cNvSpPr/>
          <p:nvPr/>
        </p:nvSpPr>
        <p:spPr>
          <a:xfrm>
            <a:off x="609600" y="1508760"/>
            <a:ext cx="5852160" cy="4800600"/>
          </a:xfrm>
          <a:prstGeom prst="rect">
            <a:avLst/>
          </a:prstGeom>
          <a:noFill/>
          <a:ln/>
        </p:spPr>
        <p:txBody>
          <a:bodyPr wrap="square" rtlCol="0" anchor="t">
            <a:normAutofit/>
          </a:bodyPr>
          <a:lstStyle/>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Key operational priority for growth</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Focus on automation and AI optimization</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Sustaining high gross margins</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Enhancing enterprise user engagement</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Expanding partner ecosystem distribution</a:t>
            </a:r>
            <a:endParaRPr lang="en-US" sz="2200" dirty="0"/>
          </a:p>
        </p:txBody>
      </p:sp>
      <p:pic>
        <p:nvPicPr>
          <p:cNvPr id="5" name="Image 0" descr="preencoded.png">    </p:cNvPr>
          <p:cNvPicPr>
            <a:picLocks noChangeAspect="1"/>
          </p:cNvPicPr>
          <p:nvPr/>
        </p:nvPicPr>
        <p:blipFill>
          <a:blip r:embed="rId1"/>
          <a:stretch>
            <a:fillRect/>
          </a:stretch>
        </p:blipFill>
        <p:spPr>
          <a:xfrm>
            <a:off x="6827520" y="1508760"/>
            <a:ext cx="4754880" cy="4663440"/>
          </a:xfrm>
          <a:prstGeom prst="rect">
            <a:avLst/>
          </a:prstGeom>
        </p:spPr>
      </p:pic>
      <p:sp>
        <p:nvSpPr>
          <p:cNvPr id="6" name="Text 2"/>
          <p:cNvSpPr/>
          <p:nvPr/>
        </p:nvSpPr>
        <p:spPr>
          <a:xfrm>
            <a:off x="6827520" y="6240780"/>
            <a:ext cx="4754880" cy="274320"/>
          </a:xfrm>
          <a:prstGeom prst="rect">
            <a:avLst/>
          </a:prstGeom>
          <a:noFill/>
          <a:ln/>
        </p:spPr>
        <p:txBody>
          <a:bodyPr wrap="square" rtlCol="0" anchor="t"/>
          <a:lstStyle/>
          <a:p>
            <a:pPr algn="r" indent="0" marL="0">
              <a:buNone/>
            </a:pPr>
            <a:r>
              <a:rPr lang="en-US" sz="900" dirty="0">
                <a:solidFill>
                  <a:srgbClr val="64748B"/>
                </a:solidFill>
              </a:rPr>
              <a:t>Photo: Dylan Gillis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09600" y="342900"/>
            <a:ext cx="10972800" cy="1028700"/>
          </a:xfrm>
          <a:prstGeom prst="rect">
            <a:avLst/>
          </a:prstGeom>
          <a:noFill/>
          <a:ln/>
        </p:spPr>
        <p:txBody>
          <a:bodyPr wrap="square" rtlCol="0" anchor="t">
            <a:normAutofit/>
          </a:bodyPr>
          <a:lstStyle/>
          <a:p>
            <a:pPr indent="0" marL="0">
              <a:buNone/>
            </a:pPr>
            <a:r>
              <a:rPr lang="en-US" sz="3200" b="1" dirty="0">
                <a:solidFill>
                  <a:srgbClr val="0F172A"/>
                </a:solidFill>
                <a:latin typeface="Arial" pitchFamily="34" charset="0"/>
                <a:ea typeface="Arial" pitchFamily="34" charset="-122"/>
                <a:cs typeface="Arial" pitchFamily="34" charset="-120"/>
              </a:rPr>
              <a:t>Achieving Positive Growth Through Operations</a:t>
            </a:r>
            <a:endParaRPr lang="en-US" sz="3200" dirty="0"/>
          </a:p>
        </p:txBody>
      </p:sp>
      <p:sp>
        <p:nvSpPr>
          <p:cNvPr id="4" name="Text 1"/>
          <p:cNvSpPr/>
          <p:nvPr/>
        </p:nvSpPr>
        <p:spPr>
          <a:xfrm>
            <a:off x="609600" y="1508760"/>
            <a:ext cx="5852160" cy="4800600"/>
          </a:xfrm>
          <a:prstGeom prst="rect">
            <a:avLst/>
          </a:prstGeom>
          <a:noFill/>
          <a:ln/>
        </p:spPr>
        <p:txBody>
          <a:bodyPr wrap="square" rtlCol="0" anchor="t">
            <a:normAutofit/>
          </a:bodyPr>
          <a:lstStyle/>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Key operational priority identified</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Focus on enterprise adoption growth</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Maximizing operational efficiency</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Targeting positive revenue expansion</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Enhancing customer retention rates</a:t>
            </a:r>
            <a:endParaRPr lang="en-US" sz="2200" dirty="0"/>
          </a:p>
        </p:txBody>
      </p:sp>
      <p:pic>
        <p:nvPicPr>
          <p:cNvPr id="5" name="Image 0" descr="preencoded.png">    </p:cNvPr>
          <p:cNvPicPr>
            <a:picLocks noChangeAspect="1"/>
          </p:cNvPicPr>
          <p:nvPr/>
        </p:nvPicPr>
        <p:blipFill>
          <a:blip r:embed="rId1"/>
          <a:stretch>
            <a:fillRect/>
          </a:stretch>
        </p:blipFill>
        <p:spPr>
          <a:xfrm>
            <a:off x="6827520" y="1508760"/>
            <a:ext cx="4754880" cy="4663440"/>
          </a:xfrm>
          <a:prstGeom prst="rect">
            <a:avLst/>
          </a:prstGeom>
        </p:spPr>
      </p:pic>
      <p:sp>
        <p:nvSpPr>
          <p:cNvPr id="6" name="Text 2"/>
          <p:cNvSpPr/>
          <p:nvPr/>
        </p:nvSpPr>
        <p:spPr>
          <a:xfrm>
            <a:off x="6827520" y="6240780"/>
            <a:ext cx="4754880" cy="274320"/>
          </a:xfrm>
          <a:prstGeom prst="rect">
            <a:avLst/>
          </a:prstGeom>
          <a:noFill/>
          <a:ln/>
        </p:spPr>
        <p:txBody>
          <a:bodyPr wrap="square" rtlCol="0" anchor="t"/>
          <a:lstStyle/>
          <a:p>
            <a:pPr algn="r" indent="0" marL="0">
              <a:buNone/>
            </a:pPr>
            <a:r>
              <a:rPr lang="en-US" sz="900" dirty="0">
                <a:solidFill>
                  <a:srgbClr val="64748B"/>
                </a:solidFill>
              </a:rPr>
              <a:t>Photo: Dylan Gillis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09600" y="342900"/>
            <a:ext cx="10972800" cy="1028700"/>
          </a:xfrm>
          <a:prstGeom prst="rect">
            <a:avLst/>
          </a:prstGeom>
          <a:noFill/>
          <a:ln/>
        </p:spPr>
        <p:txBody>
          <a:bodyPr wrap="square" rtlCol="0" anchor="t">
            <a:normAutofit/>
          </a:bodyPr>
          <a:lstStyle/>
          <a:p>
            <a:pPr indent="0" marL="0">
              <a:buNone/>
            </a:pPr>
            <a:r>
              <a:rPr lang="en-US" sz="3200" b="1" dirty="0">
                <a:solidFill>
                  <a:srgbClr val="0F172A"/>
                </a:solidFill>
                <a:latin typeface="Arial" pitchFamily="34" charset="0"/>
                <a:ea typeface="Arial" pitchFamily="34" charset="-122"/>
                <a:cs typeface="Arial" pitchFamily="34" charset="-120"/>
              </a:rPr>
              <a:t>Operational Efficiency Drives Growth</a:t>
            </a:r>
            <a:endParaRPr lang="en-US" sz="3200" dirty="0"/>
          </a:p>
        </p:txBody>
      </p:sp>
      <p:sp>
        <p:nvSpPr>
          <p:cNvPr id="4" name="Text 1"/>
          <p:cNvSpPr/>
          <p:nvPr/>
        </p:nvSpPr>
        <p:spPr>
          <a:xfrm>
            <a:off x="609600" y="1508760"/>
            <a:ext cx="5852160" cy="4800600"/>
          </a:xfrm>
          <a:prstGeom prst="rect">
            <a:avLst/>
          </a:prstGeom>
          <a:noFill/>
          <a:ln/>
        </p:spPr>
        <p:txBody>
          <a:bodyPr wrap="square" rtlCol="0" anchor="t">
            <a:normAutofit/>
          </a:bodyPr>
          <a:lstStyle/>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Key operational priority identified</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Focus on positive growth strategies</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Emphasizing efficiency and automation</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Expanding partner ecosystem distribution</a:t>
            </a:r>
            <a:endParaRPr lang="en-US" sz="2200" dirty="0"/>
          </a:p>
          <a:p>
            <a:pPr marL="342900" indent="-342900">
              <a:buSzPct val="100000"/>
              <a:buChar char="•"/>
            </a:pPr>
            <a:r>
              <a:rPr lang="en-US" sz="2200" dirty="0">
                <a:solidFill>
                  <a:srgbClr val="0F172A"/>
                </a:solidFill>
                <a:latin typeface="Calibri" pitchFamily="34" charset="0"/>
                <a:ea typeface="Calibri" pitchFamily="34" charset="-122"/>
                <a:cs typeface="Calibri" pitchFamily="34" charset="-120"/>
              </a:rPr>
              <a:t>Strong performance in enterprise adoption</a:t>
            </a:r>
            <a:endParaRPr lang="en-US" sz="2200" dirty="0"/>
          </a:p>
        </p:txBody>
      </p:sp>
      <p:pic>
        <p:nvPicPr>
          <p:cNvPr id="5" name="Image 0" descr="preencoded.png">    </p:cNvPr>
          <p:cNvPicPr>
            <a:picLocks noChangeAspect="1"/>
          </p:cNvPicPr>
          <p:nvPr/>
        </p:nvPicPr>
        <p:blipFill>
          <a:blip r:embed="rId1"/>
          <a:stretch>
            <a:fillRect/>
          </a:stretch>
        </p:blipFill>
        <p:spPr>
          <a:xfrm>
            <a:off x="6827520" y="1508760"/>
            <a:ext cx="4754880" cy="4663440"/>
          </a:xfrm>
          <a:prstGeom prst="rect">
            <a:avLst/>
          </a:prstGeom>
        </p:spPr>
      </p:pic>
      <p:sp>
        <p:nvSpPr>
          <p:cNvPr id="6" name="Text 2"/>
          <p:cNvSpPr/>
          <p:nvPr/>
        </p:nvSpPr>
        <p:spPr>
          <a:xfrm>
            <a:off x="6827520" y="6240780"/>
            <a:ext cx="4754880" cy="274320"/>
          </a:xfrm>
          <a:prstGeom prst="rect">
            <a:avLst/>
          </a:prstGeom>
          <a:noFill/>
          <a:ln/>
        </p:spPr>
        <p:txBody>
          <a:bodyPr wrap="square" rtlCol="0" anchor="t"/>
          <a:lstStyle/>
          <a:p>
            <a:pPr algn="r" indent="0" marL="0">
              <a:buNone/>
            </a:pPr>
            <a:r>
              <a:rPr lang="en-US" sz="900" dirty="0">
                <a:solidFill>
                  <a:srgbClr val="64748B"/>
                </a:solidFill>
              </a:rPr>
              <a:t>Photo: Dylan Gillis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Text 0"/>
          <p:cNvSpPr/>
          <p:nvPr/>
        </p:nvSpPr>
        <p:spPr>
          <a:xfrm>
            <a:off x="6096000" y="6446520"/>
            <a:ext cx="5608320" cy="274320"/>
          </a:xfrm>
          <a:prstGeom prst="rect">
            <a:avLst/>
          </a:prstGeom>
          <a:noFill/>
          <a:ln/>
        </p:spPr>
        <p:txBody>
          <a:bodyPr wrap="square" rtlCol="0" anchor="t"/>
          <a:lstStyle/>
          <a:p>
            <a:pPr algn="r" indent="0" marL="0">
              <a:buNone/>
            </a:pPr>
            <a:r>
              <a:rPr lang="en-US" sz="900" dirty="0">
                <a:solidFill>
                  <a:srgbClr val="CBD5E1"/>
                </a:solidFill>
              </a:rPr>
              <a:t>Photo: Imagine Buddy</a:t>
            </a:r>
            <a:endParaRPr lang="en-US" sz="900" dirty="0"/>
          </a:p>
        </p:txBody>
      </p:sp>
      <p:sp>
        <p:nvSpPr>
          <p:cNvPr id="5" name="Shape 1"/>
          <p:cNvSpPr/>
          <p:nvPr/>
        </p:nvSpPr>
        <p:spPr>
          <a:xfrm>
            <a:off x="0" y="0"/>
            <a:ext cx="12192000" cy="6858000"/>
          </a:xfrm>
          <a:prstGeom prst="rect">
            <a:avLst/>
          </a:prstGeom>
          <a:solidFill>
            <a:srgbClr val="000000">
              <a:alpha val="60000"/>
            </a:srgbClr>
          </a:solidFill>
          <a:ln/>
        </p:spPr>
      </p:sp>
      <p:sp>
        <p:nvSpPr>
          <p:cNvPr id="6" name="Text 2"/>
          <p:cNvSpPr/>
          <p:nvPr/>
        </p:nvSpPr>
        <p:spPr>
          <a:xfrm>
            <a:off x="1219200" y="2400300"/>
            <a:ext cx="9753600" cy="1371600"/>
          </a:xfrm>
          <a:prstGeom prst="rect">
            <a:avLst/>
          </a:prstGeom>
          <a:noFill/>
          <a:ln/>
        </p:spPr>
        <p:txBody>
          <a:bodyPr wrap="square" rtlCol="0" anchor="ctr">
            <a:normAutofit/>
          </a:bodyPr>
          <a:lstStyle/>
          <a:p>
            <a:pPr algn="ctr" indent="0" marL="0">
              <a:buNone/>
            </a:pPr>
            <a:r>
              <a:rPr lang="en-US" sz="4000" b="1" dirty="0">
                <a:solidFill>
                  <a:srgbClr val="FFFFFF"/>
                </a:solidFill>
                <a:latin typeface="Arial" pitchFamily="34" charset="0"/>
                <a:ea typeface="Arial" pitchFamily="34" charset="-122"/>
                <a:cs typeface="Arial" pitchFamily="34" charset="-120"/>
              </a:rPr>
              <a:t>Positive Growth and Operational Focus</a:t>
            </a:r>
            <a:endParaRPr lang="en-US" sz="4000" dirty="0"/>
          </a:p>
        </p:txBody>
      </p:sp>
      <p:sp>
        <p:nvSpPr>
          <p:cNvPr id="7" name="Text 3"/>
          <p:cNvSpPr/>
          <p:nvPr/>
        </p:nvSpPr>
        <p:spPr>
          <a:xfrm>
            <a:off x="1219200" y="4114800"/>
            <a:ext cx="9753600" cy="685800"/>
          </a:xfrm>
          <a:prstGeom prst="rect">
            <a:avLst/>
          </a:prstGeom>
          <a:noFill/>
          <a:ln/>
        </p:spPr>
        <p:txBody>
          <a:bodyPr wrap="square" rtlCol="0" anchor="ctr">
            <a:normAutofit/>
          </a:bodyPr>
          <a:lstStyle/>
          <a:p>
            <a:pPr algn="ctr" indent="0" marL="0">
              <a:buNone/>
            </a:pPr>
            <a:r>
              <a:rPr lang="en-US" sz="2400" dirty="0">
                <a:solidFill>
                  <a:srgbClr val="2563EB"/>
                </a:solidFill>
                <a:latin typeface="Calibri" pitchFamily="34" charset="0"/>
                <a:ea typeface="Calibri" pitchFamily="34" charset="-122"/>
                <a:cs typeface="Calibri" pitchFamily="34" charset="-120"/>
              </a:rPr>
              <a:t>Thank you for your attention!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2026-10-15T11:46:05Z</dcterms:created>
  <dcterms:modified xsi:type="dcterms:W3CDTF">2026-10-15T11:46:05Z</dcterms:modified>
</cp:coreProperties>
</file>