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highlights the key operational priorities and the positive growth achieved in the fiscal year 2026. The focus on operational efficiency and collaboration with regional markets is crucial for continued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operational priorities and the focus on achieving positive growth. It emphasizes the impressive revenue growth and operational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operational priorities and growth targets as outlined in the strategic pillar. Focus on the successful metrics achieved in the last fiscal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operational priorities and the positive growth achieved in the financial year 2026. It emphasizes the strategic direction and operational efficiency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key operational priorities and achievements of the organization in 2026, highlighting the focus on positive growth and efficiency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BE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Text 0"/>
          <p:cNvSpPr/>
          <p:nvPr/>
        </p:nvSpPr>
        <p:spPr>
          <a:xfrm>
            <a:off x="6096000" y="6446520"/>
            <a:ext cx="5608320" cy="274320"/>
          </a:xfrm>
          <a:prstGeom prst="rect">
            <a:avLst/>
          </a:prstGeom>
          <a:noFill/>
          <a:ln/>
        </p:spPr>
        <p:txBody>
          <a:bodyPr wrap="square" rtlCol="0" anchor="t"/>
          <a:lstStyle/>
          <a:p>
            <a:pPr algn="r" indent="0" marL="0">
              <a:buNone/>
            </a:pPr>
            <a:r>
              <a:rPr lang="en-US" sz="900" dirty="0">
                <a:solidFill>
                  <a:srgbClr val="CBD5E1"/>
                </a:solidFill>
              </a:rPr>
              <a:t>Photo: Dylan Gillis</a:t>
            </a:r>
            <a:endParaRPr lang="en-US" sz="900" dirty="0"/>
          </a:p>
        </p:txBody>
      </p:sp>
      <p:sp>
        <p:nvSpPr>
          <p:cNvPr id="5" name="Shape 1"/>
          <p:cNvSpPr/>
          <p:nvPr/>
        </p:nvSpPr>
        <p:spPr>
          <a:xfrm>
            <a:off x="0" y="0"/>
            <a:ext cx="12192000" cy="6858000"/>
          </a:xfrm>
          <a:prstGeom prst="rect">
            <a:avLst/>
          </a:prstGeom>
          <a:solidFill>
            <a:srgbClr val="000000">
              <a:alpha val="60000"/>
            </a:srgbClr>
          </a:solidFill>
          <a:ln/>
        </p:spPr>
      </p:sp>
      <p:sp>
        <p:nvSpPr>
          <p:cNvPr id="6" name="Text 2"/>
          <p:cNvSpPr/>
          <p:nvPr/>
        </p:nvSpPr>
        <p:spPr>
          <a:xfrm>
            <a:off x="975360" y="2400300"/>
            <a:ext cx="10241280" cy="1371600"/>
          </a:xfrm>
          <a:prstGeom prst="rect">
            <a:avLst/>
          </a:prstGeom>
          <a:noFill/>
          <a:ln/>
        </p:spPr>
        <p:txBody>
          <a:bodyPr wrap="square" rtlCol="0" anchor="ctr">
            <a:normAutofit/>
          </a:bodyPr>
          <a:lstStyle/>
          <a:p>
            <a:pPr algn="l" indent="0" marL="0">
              <a:buNone/>
            </a:pPr>
            <a:r>
              <a:rPr lang="en-US" sz="4400" b="1" dirty="0">
                <a:solidFill>
                  <a:srgbClr val="FFFFFF"/>
                </a:solidFill>
                <a:latin typeface="Trebuchet MS" pitchFamily="34" charset="0"/>
                <a:ea typeface="Trebuchet MS" pitchFamily="34" charset="-122"/>
                <a:cs typeface="Trebuchet MS" pitchFamily="34" charset="-120"/>
              </a:rPr>
              <a:t>Achieved 17% Revenue Growth</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09600" y="342900"/>
            <a:ext cx="10972800" cy="1028700"/>
          </a:xfrm>
          <a:prstGeom prst="rect">
            <a:avLst/>
          </a:prstGeom>
          <a:noFill/>
          <a:ln/>
        </p:spPr>
        <p:txBody>
          <a:bodyPr wrap="square" rtlCol="0" anchor="t">
            <a:normAutofit/>
          </a:bodyPr>
          <a:lstStyle/>
          <a:p>
            <a:pPr indent="0" marL="0">
              <a:buNone/>
            </a:pPr>
            <a:r>
              <a:rPr lang="en-US" sz="3200" b="1" dirty="0">
                <a:solidFill>
                  <a:srgbClr val="1C1917"/>
                </a:solidFill>
                <a:latin typeface="Trebuchet MS" pitchFamily="34" charset="0"/>
                <a:ea typeface="Trebuchet MS" pitchFamily="34" charset="-122"/>
                <a:cs typeface="Trebuchet MS" pitchFamily="34" charset="-120"/>
              </a:rPr>
              <a:t>Operational Efficiency Drives Growth</a:t>
            </a:r>
            <a:endParaRPr lang="en-US" sz="3200" dirty="0"/>
          </a:p>
        </p:txBody>
      </p:sp>
      <p:sp>
        <p:nvSpPr>
          <p:cNvPr id="4" name="Text 1"/>
          <p:cNvSpPr/>
          <p:nvPr/>
        </p:nvSpPr>
        <p:spPr>
          <a:xfrm>
            <a:off x="609600" y="1508760"/>
            <a:ext cx="5852160" cy="4800600"/>
          </a:xfrm>
          <a:prstGeom prst="rect">
            <a:avLst/>
          </a:prstGeom>
          <a:noFill/>
          <a:ln/>
        </p:spPr>
        <p:txBody>
          <a:bodyPr wrap="square" rtlCol="0" anchor="t">
            <a:normAutofit/>
          </a:bodyPr>
          <a:lstStyle/>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Key operational priority identified</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Targeting positive growth trajectory</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18% annual revenue increase achieved</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Operational cash flow remains positive</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Focus on automation and cloud architecture</a:t>
            </a:r>
            <a:endParaRPr lang="en-US" sz="2200" dirty="0"/>
          </a:p>
        </p:txBody>
      </p:sp>
      <p:pic>
        <p:nvPicPr>
          <p:cNvPr id="5" name="Image 0" descr="preencoded.png">    </p:cNvPr>
          <p:cNvPicPr>
            <a:picLocks noChangeAspect="1"/>
          </p:cNvPicPr>
          <p:nvPr/>
        </p:nvPicPr>
        <p:blipFill>
          <a:blip r:embed="rId1"/>
          <a:stretch>
            <a:fillRect/>
          </a:stretch>
        </p:blipFill>
        <p:spPr>
          <a:xfrm>
            <a:off x="6827520" y="1508760"/>
            <a:ext cx="4754880" cy="4663440"/>
          </a:xfrm>
          <a:prstGeom prst="rect">
            <a:avLst/>
          </a:prstGeom>
        </p:spPr>
      </p:pic>
      <p:sp>
        <p:nvSpPr>
          <p:cNvPr id="6" name="Text 2"/>
          <p:cNvSpPr/>
          <p:nvPr/>
        </p:nvSpPr>
        <p:spPr>
          <a:xfrm>
            <a:off x="6827520" y="6240780"/>
            <a:ext cx="4754880" cy="274320"/>
          </a:xfrm>
          <a:prstGeom prst="rect">
            <a:avLst/>
          </a:prstGeom>
          <a:noFill/>
          <a:ln/>
        </p:spPr>
        <p:txBody>
          <a:bodyPr wrap="square" rtlCol="0" anchor="t"/>
          <a:lstStyle/>
          <a:p>
            <a:pPr algn="r" indent="0" marL="0">
              <a:buNone/>
            </a:pPr>
            <a:r>
              <a:rPr lang="en-US" sz="900" dirty="0">
                <a:solidFill>
                  <a:srgbClr val="78716C"/>
                </a:solidFill>
              </a:rPr>
              <a:t>Photo: JESHOOTS.COM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609600" y="342900"/>
            <a:ext cx="10972800" cy="1028700"/>
          </a:xfrm>
          <a:prstGeom prst="rect">
            <a:avLst/>
          </a:prstGeom>
          <a:noFill/>
          <a:ln/>
        </p:spPr>
        <p:txBody>
          <a:bodyPr wrap="square" rtlCol="0" anchor="t">
            <a:normAutofit/>
          </a:bodyPr>
          <a:lstStyle/>
          <a:p>
            <a:pPr indent="0" marL="0">
              <a:buNone/>
            </a:pPr>
            <a:r>
              <a:rPr lang="en-US" sz="3200" b="1" dirty="0">
                <a:solidFill>
                  <a:srgbClr val="1C1917"/>
                </a:solidFill>
                <a:latin typeface="Trebuchet MS" pitchFamily="34" charset="0"/>
                <a:ea typeface="Trebuchet MS" pitchFamily="34" charset="-122"/>
                <a:cs typeface="Trebuchet MS" pitchFamily="34" charset="-120"/>
              </a:rPr>
              <a:t>Positive Growth Target Achieved</a:t>
            </a:r>
            <a:endParaRPr lang="en-US" sz="3200" dirty="0"/>
          </a:p>
        </p:txBody>
      </p:sp>
      <p:sp>
        <p:nvSpPr>
          <p:cNvPr id="4" name="Text 1"/>
          <p:cNvSpPr/>
          <p:nvPr/>
        </p:nvSpPr>
        <p:spPr>
          <a:xfrm>
            <a:off x="609600" y="1508760"/>
            <a:ext cx="5852160" cy="4800600"/>
          </a:xfrm>
          <a:prstGeom prst="rect">
            <a:avLst/>
          </a:prstGeom>
          <a:noFill/>
          <a:ln/>
        </p:spPr>
        <p:txBody>
          <a:bodyPr wrap="square" rtlCol="0" anchor="t">
            <a:normAutofit/>
          </a:bodyPr>
          <a:lstStyle/>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Key operational priority established.</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Targeting positive revenue growth.</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Improved operational efficiency noted.</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Strong cost management reflected in margins.</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Plans for automation and network expansion.</a:t>
            </a:r>
            <a:endParaRPr lang="en-US" sz="2200" dirty="0"/>
          </a:p>
        </p:txBody>
      </p:sp>
      <p:pic>
        <p:nvPicPr>
          <p:cNvPr id="5" name="Image 0" descr="preencoded.png">    </p:cNvPr>
          <p:cNvPicPr>
            <a:picLocks noChangeAspect="1"/>
          </p:cNvPicPr>
          <p:nvPr/>
        </p:nvPicPr>
        <p:blipFill>
          <a:blip r:embed="rId1"/>
          <a:stretch>
            <a:fillRect/>
          </a:stretch>
        </p:blipFill>
        <p:spPr>
          <a:xfrm>
            <a:off x="6827520" y="1508760"/>
            <a:ext cx="4754880" cy="4663440"/>
          </a:xfrm>
          <a:prstGeom prst="rect">
            <a:avLst/>
          </a:prstGeom>
        </p:spPr>
      </p:pic>
      <p:sp>
        <p:nvSpPr>
          <p:cNvPr id="6" name="Text 2"/>
          <p:cNvSpPr/>
          <p:nvPr/>
        </p:nvSpPr>
        <p:spPr>
          <a:xfrm>
            <a:off x="6827520" y="6240780"/>
            <a:ext cx="4754880" cy="274320"/>
          </a:xfrm>
          <a:prstGeom prst="rect">
            <a:avLst/>
          </a:prstGeom>
          <a:noFill/>
          <a:ln/>
        </p:spPr>
        <p:txBody>
          <a:bodyPr wrap="square" rtlCol="0" anchor="t"/>
          <a:lstStyle/>
          <a:p>
            <a:pPr algn="r" indent="0" marL="0">
              <a:buNone/>
            </a:pPr>
            <a:r>
              <a:rPr lang="en-US" sz="900" dirty="0">
                <a:solidFill>
                  <a:srgbClr val="78716C"/>
                </a:solidFill>
              </a:rPr>
              <a:t>Photo: Imagine Buddy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09600" y="342900"/>
            <a:ext cx="10972800" cy="1028700"/>
          </a:xfrm>
          <a:prstGeom prst="rect">
            <a:avLst/>
          </a:prstGeom>
          <a:noFill/>
          <a:ln/>
        </p:spPr>
        <p:txBody>
          <a:bodyPr wrap="square" rtlCol="0" anchor="t">
            <a:normAutofit/>
          </a:bodyPr>
          <a:lstStyle/>
          <a:p>
            <a:pPr indent="0" marL="0">
              <a:buNone/>
            </a:pPr>
            <a:r>
              <a:rPr lang="en-US" sz="3200" b="1" dirty="0">
                <a:solidFill>
                  <a:srgbClr val="1C1917"/>
                </a:solidFill>
                <a:latin typeface="Trebuchet MS" pitchFamily="34" charset="0"/>
                <a:ea typeface="Trebuchet MS" pitchFamily="34" charset="-122"/>
                <a:cs typeface="Trebuchet MS" pitchFamily="34" charset="-120"/>
              </a:rPr>
              <a:t>Positive Growth Target Achieved</a:t>
            </a:r>
            <a:endParaRPr lang="en-US" sz="3200" dirty="0"/>
          </a:p>
        </p:txBody>
      </p:sp>
      <p:sp>
        <p:nvSpPr>
          <p:cNvPr id="4" name="Text 1"/>
          <p:cNvSpPr/>
          <p:nvPr/>
        </p:nvSpPr>
        <p:spPr>
          <a:xfrm>
            <a:off x="609600" y="1508760"/>
            <a:ext cx="5852160" cy="4800600"/>
          </a:xfrm>
          <a:prstGeom prst="rect">
            <a:avLst/>
          </a:prstGeom>
          <a:noFill/>
          <a:ln/>
        </p:spPr>
        <p:txBody>
          <a:bodyPr wrap="square" rtlCol="0" anchor="t">
            <a:normAutofit/>
          </a:bodyPr>
          <a:lstStyle/>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Focus on operational excellence</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Achieved ₹32.1 crore revenue</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20% annual growth rate</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Sustained gross profit margin at 69%</a:t>
            </a:r>
            <a:endParaRPr lang="en-US" sz="2200" dirty="0"/>
          </a:p>
          <a:p>
            <a:pPr marL="342900" indent="-342900">
              <a:buSzPct val="100000"/>
              <a:buChar char="•"/>
            </a:pPr>
            <a:r>
              <a:rPr lang="en-US" sz="2200" dirty="0">
                <a:solidFill>
                  <a:srgbClr val="1C1917"/>
                </a:solidFill>
                <a:latin typeface="Calibri" pitchFamily="34" charset="0"/>
                <a:ea typeface="Calibri" pitchFamily="34" charset="-122"/>
                <a:cs typeface="Calibri" pitchFamily="34" charset="-120"/>
              </a:rPr>
              <a:t>Strengthened cost management</a:t>
            </a:r>
            <a:endParaRPr lang="en-US" sz="2200" dirty="0"/>
          </a:p>
        </p:txBody>
      </p:sp>
      <p:pic>
        <p:nvPicPr>
          <p:cNvPr id="5" name="Image 0" descr="preencoded.png">    </p:cNvPr>
          <p:cNvPicPr>
            <a:picLocks noChangeAspect="1"/>
          </p:cNvPicPr>
          <p:nvPr/>
        </p:nvPicPr>
        <p:blipFill>
          <a:blip r:embed="rId1"/>
          <a:stretch>
            <a:fillRect/>
          </a:stretch>
        </p:blipFill>
        <p:spPr>
          <a:xfrm>
            <a:off x="6827520" y="1508760"/>
            <a:ext cx="4754880" cy="4663440"/>
          </a:xfrm>
          <a:prstGeom prst="rect">
            <a:avLst/>
          </a:prstGeom>
        </p:spPr>
      </p:pic>
      <p:sp>
        <p:nvSpPr>
          <p:cNvPr id="6" name="Text 2"/>
          <p:cNvSpPr/>
          <p:nvPr/>
        </p:nvSpPr>
        <p:spPr>
          <a:xfrm>
            <a:off x="6827520" y="6240780"/>
            <a:ext cx="4754880" cy="274320"/>
          </a:xfrm>
          <a:prstGeom prst="rect">
            <a:avLst/>
          </a:prstGeom>
          <a:noFill/>
          <a:ln/>
        </p:spPr>
        <p:txBody>
          <a:bodyPr wrap="square" rtlCol="0" anchor="t"/>
          <a:lstStyle/>
          <a:p>
            <a:pPr algn="r" indent="0" marL="0">
              <a:buNone/>
            </a:pPr>
            <a:r>
              <a:rPr lang="en-US" sz="900" dirty="0">
                <a:solidFill>
                  <a:srgbClr val="78716C"/>
                </a:solidFill>
              </a:rPr>
              <a:t>Photo: Dylan Gillis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4" name="Text 0"/>
          <p:cNvSpPr/>
          <p:nvPr/>
        </p:nvSpPr>
        <p:spPr>
          <a:xfrm>
            <a:off x="6096000" y="6446520"/>
            <a:ext cx="5608320" cy="274320"/>
          </a:xfrm>
          <a:prstGeom prst="rect">
            <a:avLst/>
          </a:prstGeom>
          <a:noFill/>
          <a:ln/>
        </p:spPr>
        <p:txBody>
          <a:bodyPr wrap="square" rtlCol="0" anchor="t"/>
          <a:lstStyle/>
          <a:p>
            <a:pPr algn="r" indent="0" marL="0">
              <a:buNone/>
            </a:pPr>
            <a:r>
              <a:rPr lang="en-US" sz="900" dirty="0">
                <a:solidFill>
                  <a:srgbClr val="CBD5E1"/>
                </a:solidFill>
              </a:rPr>
              <a:t>Photo: micheile henderson</a:t>
            </a:r>
            <a:endParaRPr lang="en-US" sz="900" dirty="0"/>
          </a:p>
        </p:txBody>
      </p:sp>
      <p:sp>
        <p:nvSpPr>
          <p:cNvPr id="5" name="Shape 1"/>
          <p:cNvSpPr/>
          <p:nvPr/>
        </p:nvSpPr>
        <p:spPr>
          <a:xfrm>
            <a:off x="0" y="0"/>
            <a:ext cx="12192000" cy="6858000"/>
          </a:xfrm>
          <a:prstGeom prst="rect">
            <a:avLst/>
          </a:prstGeom>
          <a:solidFill>
            <a:srgbClr val="000000">
              <a:alpha val="60000"/>
            </a:srgbClr>
          </a:solidFill>
          <a:ln/>
        </p:spPr>
      </p:sp>
      <p:sp>
        <p:nvSpPr>
          <p:cNvPr id="6" name="Text 2"/>
          <p:cNvSpPr/>
          <p:nvPr/>
        </p:nvSpPr>
        <p:spPr>
          <a:xfrm>
            <a:off x="1219200" y="2400300"/>
            <a:ext cx="9753600" cy="1371600"/>
          </a:xfrm>
          <a:prstGeom prst="rect">
            <a:avLst/>
          </a:prstGeom>
          <a:noFill/>
          <a:ln/>
        </p:spPr>
        <p:txBody>
          <a:bodyPr wrap="square" rtlCol="0" anchor="ctr">
            <a:normAutofit/>
          </a:bodyP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Positive Growth Achieved in 2026</a:t>
            </a:r>
            <a:endParaRPr lang="en-US" sz="4000" dirty="0"/>
          </a:p>
        </p:txBody>
      </p:sp>
      <p:sp>
        <p:nvSpPr>
          <p:cNvPr id="7" name="Text 3"/>
          <p:cNvSpPr/>
          <p:nvPr/>
        </p:nvSpPr>
        <p:spPr>
          <a:xfrm>
            <a:off x="1219200" y="4114800"/>
            <a:ext cx="9753600" cy="685800"/>
          </a:xfrm>
          <a:prstGeom prst="rect">
            <a:avLst/>
          </a:prstGeom>
          <a:noFill/>
          <a:ln/>
        </p:spPr>
        <p:txBody>
          <a:bodyPr wrap="square" rtlCol="0" anchor="ctr">
            <a:normAutofit/>
          </a:bodyPr>
          <a:lstStyle/>
          <a:p>
            <a:pPr algn="ctr" indent="0" marL="0">
              <a:buNone/>
            </a:pPr>
            <a:r>
              <a:rPr lang="en-US" sz="2400" dirty="0">
                <a:solidFill>
                  <a:srgbClr val="E11D48"/>
                </a:solidFill>
                <a:latin typeface="Calibri" pitchFamily="34" charset="0"/>
                <a:ea typeface="Calibri" pitchFamily="34" charset="-122"/>
                <a:cs typeface="Calibri" pitchFamily="34" charset="-120"/>
              </a:rPr>
              <a:t>Continue to build on this success!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2026-10-15T11:47:09Z</dcterms:created>
  <dcterms:modified xsi:type="dcterms:W3CDTF">2026-10-15T11:47:09Z</dcterms:modified>
</cp:coreProperties>
</file>