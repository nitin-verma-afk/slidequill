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introduces the essence of the annual report, highlighting its importance and scope. Emphasize the significance of the insights that follow.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highlights our mission and strategic goals as we move towards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highlights the key performance indicators and efficiency metrics for Division 1, showcasing growth and resource allocation.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highlights the essential metrics for Division 1, showcasing performance and efficiency.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outlines the key steps for Division 1's forward outlook, focusing on integration and empowerment.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summarizes the critical performance metrics for Division 2, focusing on revenue growth and capital efficiency.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chart illustrates the essential metrics for Division 2, showcasing the Annualized Run Rate and Gross Margin Ratio.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outlines the key strategic steps for Division 2's future initiatives and milestones.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highlights the crucial performance metrics for Division 3, focusing on revenue growth and capital efficiency.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highlights the crucial metrics that define Division 3's operational success and financial health.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outlines the key strategic steps for Division 3's upcoming initiatives. Each step is crucial for achieving our goals.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highlights the critical performance metrics of Division 4, focusing on revenue growth and capital efficiency.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chart highlights the critical metrics for Division 4, showcasing the annualized run rate and gross margin ratio.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outlines the key steps we will take to ensure Division 4's continued success and growth.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summarizes the essential performance metrics for Division 5, highlighting growth and efficiency.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presents key metrics for Division 5, showcasing its strong financial performance and strategic focus.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outlines the key steps for Division 5's forward outlook, emphasizing strategic initiatives and milestones.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we conclude, let's commit to our shared vision for future success and innovation.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F1D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096000" y="6446520"/>
            <a:ext cx="56083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Photo: Startaê Team</a:t>
            </a:r>
            <a:endParaRPr lang="en-US" sz="900" dirty="0"/>
          </a:p>
        </p:txBody>
      </p:sp>
      <p:sp>
        <p:nvSpPr>
          <p:cNvPr id="6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975360" y="2400300"/>
            <a:ext cx="1024128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Unveiling Our Annual Strategic Insights</a:t>
            </a:r>
            <a:endParaRPr lang="en-US" sz="4400" dirty="0"/>
          </a:p>
        </p:txBody>
      </p:sp>
      <p:sp>
        <p:nvSpPr>
          <p:cNvPr id="8" name="Text 4"/>
          <p:cNvSpPr/>
          <p:nvPr/>
        </p:nvSpPr>
        <p:spPr>
          <a:xfrm>
            <a:off x="975360" y="3771900"/>
            <a:ext cx="10241280" cy="10287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Comprehensive Overview of Performance and Future Directions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600" y="342900"/>
            <a:ext cx="10972800" cy="10287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29252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Driving Global Corporate Success Together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609600" y="1508760"/>
            <a:ext cx="6705600" cy="4800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2925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Define our mission and vision for impact.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2925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 strategic goals targeting 2026 milestones.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2925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Enhance operational efficiencies across divisions.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2925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Empower workforce through integration initiatives.</a:t>
            </a:r>
            <a:endParaRPr lang="en-US" sz="2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0" y="1508760"/>
            <a:ext cx="3901440" cy="45262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680960" y="6103620"/>
            <a:ext cx="39014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7534E"/>
                </a:solidFill>
              </a:rPr>
              <a:t>Photo: Ben White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600" y="342900"/>
            <a:ext cx="10972800" cy="10287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29252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Division 1: Performance Insights &amp; Efficiency Gains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609600" y="1508760"/>
            <a:ext cx="5120640" cy="4526280"/>
          </a:xfrm>
          <a:prstGeom prst="rect">
            <a:avLst/>
          </a:prstGeom>
          <a:solidFill>
            <a:srgbClr val="F5F5F4"/>
          </a:solidFill>
          <a:ln/>
        </p:spPr>
      </p:sp>
      <p:sp>
        <p:nvSpPr>
          <p:cNvPr id="5" name="Text 2"/>
          <p:cNvSpPr/>
          <p:nvPr/>
        </p:nvSpPr>
        <p:spPr>
          <a:xfrm>
            <a:off x="731520" y="2331720"/>
            <a:ext cx="4876800" cy="35661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925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Point 1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925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Point 2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6461760" y="1508760"/>
            <a:ext cx="5120640" cy="4526280"/>
          </a:xfrm>
          <a:prstGeom prst="rect">
            <a:avLst/>
          </a:prstGeom>
          <a:solidFill>
            <a:srgbClr val="F5F5F4"/>
          </a:solidFill>
          <a:ln/>
        </p:spPr>
      </p:sp>
      <p:sp>
        <p:nvSpPr>
          <p:cNvPr id="7" name="Text 4"/>
          <p:cNvSpPr/>
          <p:nvPr/>
        </p:nvSpPr>
        <p:spPr>
          <a:xfrm>
            <a:off x="6583680" y="2331720"/>
            <a:ext cx="4876800" cy="35661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925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Point 1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925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Point 2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600" y="342900"/>
            <a:ext cx="10972800" cy="10287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29252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Key Metrics for Division 1 Success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609600" y="1508760"/>
            <a:ext cx="6705600" cy="4800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2925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Annualized Run Rate: $38.0M across key accounts.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2925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Gross Margin Ratio: 71.0% after overhead costs.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2925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Active User Base: 12,000 credentialed seats globally.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2925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Capital Expenditure: $2.8M for automation upgrades.</a:t>
            </a:r>
            <a:endParaRPr lang="en-US" sz="2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0" y="1508760"/>
            <a:ext cx="3901440" cy="45262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680960" y="6103620"/>
            <a:ext cx="39014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7534E"/>
                </a:solidFill>
              </a:rPr>
              <a:t>Photo: Markus Winkler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600" y="342900"/>
            <a:ext cx="10972800" cy="10287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29252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Strategic Steps for Division 1's Future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609600" y="2057400"/>
            <a:ext cx="2743200" cy="10287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6653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609600" y="3086100"/>
            <a:ext cx="2743200" cy="10287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9252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Cross-Regional Integration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09600" y="4114800"/>
            <a:ext cx="274320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5753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Description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3352800" y="2057400"/>
            <a:ext cx="2743200" cy="10287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6653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3352800" y="3086100"/>
            <a:ext cx="2743200" cy="10287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9252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Workforce Empowerment Initiatives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3352800" y="4114800"/>
            <a:ext cx="274320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5753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Description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096000" y="2057400"/>
            <a:ext cx="2743200" cy="10287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6653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3600" dirty="0"/>
          </a:p>
        </p:txBody>
      </p:sp>
      <p:sp>
        <p:nvSpPr>
          <p:cNvPr id="11" name="Text 8"/>
          <p:cNvSpPr/>
          <p:nvPr/>
        </p:nvSpPr>
        <p:spPr>
          <a:xfrm>
            <a:off x="6096000" y="3086100"/>
            <a:ext cx="2743200" cy="10287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9252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Security Verification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6096000" y="4114800"/>
            <a:ext cx="274320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5753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Description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8839200" y="2057400"/>
            <a:ext cx="2743200" cy="10287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6653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</a:t>
            </a:r>
            <a:endParaRPr lang="en-US" sz="3600" dirty="0"/>
          </a:p>
        </p:txBody>
      </p:sp>
      <p:sp>
        <p:nvSpPr>
          <p:cNvPr id="14" name="Text 11"/>
          <p:cNvSpPr/>
          <p:nvPr/>
        </p:nvSpPr>
        <p:spPr>
          <a:xfrm>
            <a:off x="8839200" y="3086100"/>
            <a:ext cx="2743200" cy="10287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9252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Milestone Tracking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8839200" y="4114800"/>
            <a:ext cx="274320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5753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Description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600" y="342900"/>
            <a:ext cx="10972800" cy="10287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29252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Key Highlights of Division 2 Performance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609600" y="1508760"/>
            <a:ext cx="6705600" cy="4800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2925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Net revenue growth at $26.3M, up 15.0%.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2925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Capital allocation efficiency improved by 11.4%.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2925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Annualized run rate reached $40.2M.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2925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Gross margin ratio stands at 72.0%.</a:t>
            </a:r>
            <a:endParaRPr lang="en-US" sz="2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0" y="1508760"/>
            <a:ext cx="3901440" cy="45262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680960" y="6103620"/>
            <a:ext cx="39014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7534E"/>
                </a:solidFill>
              </a:rPr>
              <a:t>Photo: Nick Chong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600" y="342900"/>
            <a:ext cx="10972800" cy="10287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29252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Key Metrics for Division 2 Performance</a:t>
            </a:r>
            <a:endParaRPr lang="en-US" sz="3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600" y="342900"/>
            <a:ext cx="10972800" cy="10287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29252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Strategic Steps for Division 2's Growth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609600" y="2057400"/>
            <a:ext cx="2743200" cy="10287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6653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609600" y="3086100"/>
            <a:ext cx="2743200" cy="10287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9252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Cross-Regional Integration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09600" y="4114800"/>
            <a:ext cx="274320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5753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Description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3352800" y="2057400"/>
            <a:ext cx="2743200" cy="10287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6653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3352800" y="3086100"/>
            <a:ext cx="2743200" cy="10287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9252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Workforce Empowerment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3352800" y="4114800"/>
            <a:ext cx="274320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5753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Description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096000" y="2057400"/>
            <a:ext cx="2743200" cy="10287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6653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3600" dirty="0"/>
          </a:p>
        </p:txBody>
      </p:sp>
      <p:sp>
        <p:nvSpPr>
          <p:cNvPr id="11" name="Text 8"/>
          <p:cNvSpPr/>
          <p:nvPr/>
        </p:nvSpPr>
        <p:spPr>
          <a:xfrm>
            <a:off x="6096000" y="3086100"/>
            <a:ext cx="2743200" cy="10287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9252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Security Verification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6096000" y="4114800"/>
            <a:ext cx="274320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5753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Description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8839200" y="2057400"/>
            <a:ext cx="2743200" cy="10287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6653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</a:t>
            </a:r>
            <a:endParaRPr lang="en-US" sz="3600" dirty="0"/>
          </a:p>
        </p:txBody>
      </p:sp>
      <p:sp>
        <p:nvSpPr>
          <p:cNvPr id="14" name="Text 11"/>
          <p:cNvSpPr/>
          <p:nvPr/>
        </p:nvSpPr>
        <p:spPr>
          <a:xfrm>
            <a:off x="8839200" y="3086100"/>
            <a:ext cx="2743200" cy="10287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9252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Resource Allocation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8839200" y="4114800"/>
            <a:ext cx="274320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5753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Description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600" y="342900"/>
            <a:ext cx="10972800" cy="10287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29252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Key Performance Insights for Division 3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609600" y="1508760"/>
            <a:ext cx="6705600" cy="4800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2925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Net revenue reached $28.1M, growing 16.0%.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2925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Capital allocation efficiency improved by 11.4%.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2925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73.0% gross margin ratio achieved.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2925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12,900 active users across global accounts.</a:t>
            </a:r>
            <a:endParaRPr lang="en-US" sz="2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0" y="1508760"/>
            <a:ext cx="3901440" cy="45262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680960" y="6103620"/>
            <a:ext cx="39014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7534E"/>
                </a:solidFill>
              </a:rPr>
              <a:t>Photo: Isaac Smith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600" y="342900"/>
            <a:ext cx="10972800" cy="10287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29252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Key Metrics for Division 3 Performance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609600" y="1508760"/>
            <a:ext cx="5120640" cy="4526280"/>
          </a:xfrm>
          <a:prstGeom prst="rect">
            <a:avLst/>
          </a:prstGeom>
          <a:solidFill>
            <a:srgbClr val="F5F5F4"/>
          </a:solidFill>
          <a:ln/>
        </p:spPr>
      </p:sp>
      <p:sp>
        <p:nvSpPr>
          <p:cNvPr id="5" name="Text 2"/>
          <p:cNvSpPr/>
          <p:nvPr/>
        </p:nvSpPr>
        <p:spPr>
          <a:xfrm>
            <a:off x="731520" y="2331720"/>
            <a:ext cx="4876800" cy="35661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925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Point 1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925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Point 2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6461760" y="1508760"/>
            <a:ext cx="5120640" cy="4526280"/>
          </a:xfrm>
          <a:prstGeom prst="rect">
            <a:avLst/>
          </a:prstGeom>
          <a:solidFill>
            <a:srgbClr val="F5F5F4"/>
          </a:solidFill>
          <a:ln/>
        </p:spPr>
      </p:sp>
      <p:sp>
        <p:nvSpPr>
          <p:cNvPr id="7" name="Text 4"/>
          <p:cNvSpPr/>
          <p:nvPr/>
        </p:nvSpPr>
        <p:spPr>
          <a:xfrm>
            <a:off x="6583680" y="2331720"/>
            <a:ext cx="4876800" cy="35661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925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Point 1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925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Point 2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600" y="342900"/>
            <a:ext cx="10972800" cy="10287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29252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Strategic Steps for Division 3's Future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609600" y="2057400"/>
            <a:ext cx="2743200" cy="10287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6653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609600" y="3086100"/>
            <a:ext cx="2743200" cy="10287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9252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Cross-Regional Integration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09600" y="4114800"/>
            <a:ext cx="274320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5753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Description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3352800" y="2057400"/>
            <a:ext cx="2743200" cy="10287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6653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3352800" y="3086100"/>
            <a:ext cx="2743200" cy="10287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9252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Workforce Empowerment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3352800" y="4114800"/>
            <a:ext cx="274320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5753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Description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096000" y="2057400"/>
            <a:ext cx="2743200" cy="10287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6653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3600" dirty="0"/>
          </a:p>
        </p:txBody>
      </p:sp>
      <p:sp>
        <p:nvSpPr>
          <p:cNvPr id="11" name="Text 8"/>
          <p:cNvSpPr/>
          <p:nvPr/>
        </p:nvSpPr>
        <p:spPr>
          <a:xfrm>
            <a:off x="6096000" y="3086100"/>
            <a:ext cx="2743200" cy="10287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9252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Security Verification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6096000" y="4114800"/>
            <a:ext cx="274320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5753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Description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8839200" y="2057400"/>
            <a:ext cx="2743200" cy="10287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6653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</a:t>
            </a:r>
            <a:endParaRPr lang="en-US" sz="3600" dirty="0"/>
          </a:p>
        </p:txBody>
      </p:sp>
      <p:sp>
        <p:nvSpPr>
          <p:cNvPr id="14" name="Text 11"/>
          <p:cNvSpPr/>
          <p:nvPr/>
        </p:nvSpPr>
        <p:spPr>
          <a:xfrm>
            <a:off x="8839200" y="3086100"/>
            <a:ext cx="2743200" cy="10287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9252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Milestone Tracking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8839200" y="4114800"/>
            <a:ext cx="274320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5753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Description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600" y="342900"/>
            <a:ext cx="10972800" cy="10287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29252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Key Performance Insights for Division 4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609600" y="1508760"/>
            <a:ext cx="6705600" cy="4800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2925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Net revenue growth reached $29.9M, up 17.0%.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2925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Capital allocation efficiency improved by 11.4%.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2925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Gross margin ratio achieved 74.0% post overhead.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2925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Total active user base expanded to 13,350 seats.</a:t>
            </a:r>
            <a:endParaRPr lang="en-US" sz="2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0" y="1508760"/>
            <a:ext cx="3901440" cy="45262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680960" y="6103620"/>
            <a:ext cx="39014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7534E"/>
                </a:solidFill>
              </a:rPr>
              <a:t>Photo: Maxim Hopman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600" y="342900"/>
            <a:ext cx="10972800" cy="10287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29252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Key Metrics for Division 4 Performance</a:t>
            </a:r>
            <a:endParaRPr lang="en-US" sz="3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600" y="342900"/>
            <a:ext cx="10972800" cy="10287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29252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Strategic Steps for Division 4's Future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609600" y="2057400"/>
            <a:ext cx="2743200" cy="10287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6653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609600" y="3086100"/>
            <a:ext cx="2743200" cy="10287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9252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Cross-Regional Integration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09600" y="4114800"/>
            <a:ext cx="274320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5753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Description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3352800" y="2057400"/>
            <a:ext cx="2743200" cy="10287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6653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3352800" y="3086100"/>
            <a:ext cx="2743200" cy="10287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9252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Workforce Empowerment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3352800" y="4114800"/>
            <a:ext cx="274320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5753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Description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096000" y="2057400"/>
            <a:ext cx="2743200" cy="10287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6653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3600" dirty="0"/>
          </a:p>
        </p:txBody>
      </p:sp>
      <p:sp>
        <p:nvSpPr>
          <p:cNvPr id="11" name="Text 8"/>
          <p:cNvSpPr/>
          <p:nvPr/>
        </p:nvSpPr>
        <p:spPr>
          <a:xfrm>
            <a:off x="6096000" y="3086100"/>
            <a:ext cx="2743200" cy="10287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9252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Security Verification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6096000" y="4114800"/>
            <a:ext cx="274320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5753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Description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8839200" y="2057400"/>
            <a:ext cx="2743200" cy="10287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6653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</a:t>
            </a:r>
            <a:endParaRPr lang="en-US" sz="3600" dirty="0"/>
          </a:p>
        </p:txBody>
      </p:sp>
      <p:sp>
        <p:nvSpPr>
          <p:cNvPr id="14" name="Text 11"/>
          <p:cNvSpPr/>
          <p:nvPr/>
        </p:nvSpPr>
        <p:spPr>
          <a:xfrm>
            <a:off x="8839200" y="3086100"/>
            <a:ext cx="2743200" cy="10287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9252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Scalable Automation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8839200" y="4114800"/>
            <a:ext cx="274320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5753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Description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600" y="342900"/>
            <a:ext cx="10972800" cy="10287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29252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Key Performance Insights for Division 5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609600" y="1508760"/>
            <a:ext cx="6705600" cy="4800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2925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Net revenue growth at 18.0%, reaching $31.7M.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2925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Capital allocation efficiency improved by 11.4%.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2925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operating efficiencies drive sustainable margins.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2925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Total active user base: 13,800 globally.</a:t>
            </a:r>
            <a:endParaRPr lang="en-US" sz="2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0" y="1508760"/>
            <a:ext cx="3901440" cy="45262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680960" y="6103620"/>
            <a:ext cx="39014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7534E"/>
                </a:solidFill>
              </a:rPr>
              <a:t>Photo: Isaac Smith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600" y="342900"/>
            <a:ext cx="10972800" cy="10287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29252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Division 5 Performance Highlights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609600" y="1508760"/>
            <a:ext cx="5120640" cy="4526280"/>
          </a:xfrm>
          <a:prstGeom prst="rect">
            <a:avLst/>
          </a:prstGeom>
          <a:solidFill>
            <a:srgbClr val="F5F5F4"/>
          </a:solidFill>
          <a:ln/>
        </p:spPr>
      </p:sp>
      <p:sp>
        <p:nvSpPr>
          <p:cNvPr id="5" name="Text 2"/>
          <p:cNvSpPr/>
          <p:nvPr/>
        </p:nvSpPr>
        <p:spPr>
          <a:xfrm>
            <a:off x="731520" y="2331720"/>
            <a:ext cx="4876800" cy="35661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925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Point 1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925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Point 2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6461760" y="1508760"/>
            <a:ext cx="5120640" cy="4526280"/>
          </a:xfrm>
          <a:prstGeom prst="rect">
            <a:avLst/>
          </a:prstGeom>
          <a:solidFill>
            <a:srgbClr val="F5F5F4"/>
          </a:solidFill>
          <a:ln/>
        </p:spPr>
      </p:sp>
      <p:sp>
        <p:nvSpPr>
          <p:cNvPr id="7" name="Text 4"/>
          <p:cNvSpPr/>
          <p:nvPr/>
        </p:nvSpPr>
        <p:spPr>
          <a:xfrm>
            <a:off x="6583680" y="2331720"/>
            <a:ext cx="4876800" cy="35661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925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Point 1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925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Point 2</a:t>
            </a:r>
            <a:endParaRPr lang="en-US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600" y="342900"/>
            <a:ext cx="10972800" cy="10287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29252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Strategic Path Forward for Division 5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609600" y="2057400"/>
            <a:ext cx="2743200" cy="10287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6653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609600" y="3086100"/>
            <a:ext cx="2743200" cy="10287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9252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Cross-Regional Integration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09600" y="4114800"/>
            <a:ext cx="274320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5753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Description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3352800" y="2057400"/>
            <a:ext cx="2743200" cy="10287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6653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3352800" y="3086100"/>
            <a:ext cx="2743200" cy="10287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9252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Workforce Empowerment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3352800" y="4114800"/>
            <a:ext cx="274320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5753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Description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096000" y="2057400"/>
            <a:ext cx="2743200" cy="10287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6653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3600" dirty="0"/>
          </a:p>
        </p:txBody>
      </p:sp>
      <p:sp>
        <p:nvSpPr>
          <p:cNvPr id="11" name="Text 8"/>
          <p:cNvSpPr/>
          <p:nvPr/>
        </p:nvSpPr>
        <p:spPr>
          <a:xfrm>
            <a:off x="6096000" y="3086100"/>
            <a:ext cx="2743200" cy="10287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9252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Security Verification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6096000" y="4114800"/>
            <a:ext cx="274320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5753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Description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8839200" y="2057400"/>
            <a:ext cx="2743200" cy="10287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6653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</a:t>
            </a:r>
            <a:endParaRPr lang="en-US" sz="3600" dirty="0"/>
          </a:p>
        </p:txBody>
      </p:sp>
      <p:sp>
        <p:nvSpPr>
          <p:cNvPr id="14" name="Text 11"/>
          <p:cNvSpPr/>
          <p:nvPr/>
        </p:nvSpPr>
        <p:spPr>
          <a:xfrm>
            <a:off x="8839200" y="3086100"/>
            <a:ext cx="2743200" cy="10287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9252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Milestone Tracking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8839200" y="4114800"/>
            <a:ext cx="274320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5753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Description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F1D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096000" y="6446520"/>
            <a:ext cx="56083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Photo: Hannah Busing</a:t>
            </a:r>
            <a:endParaRPr lang="en-US" sz="900" dirty="0"/>
          </a:p>
        </p:txBody>
      </p:sp>
      <p:sp>
        <p:nvSpPr>
          <p:cNvPr id="6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1219200" y="2400300"/>
            <a:ext cx="975360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Embrace Growth and Innovation Together</a:t>
            </a:r>
            <a:endParaRPr lang="en-US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2026-10-16T06:40:05Z</dcterms:created>
  <dcterms:modified xsi:type="dcterms:W3CDTF">2026-10-16T06:40:05Z</dcterms:modified>
</cp:coreProperties>
</file>